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4114800"/>
            <a:ext cx="3657600" cy="3657600"/>
          </a:xfrm>
          <a:prstGeom prst="ellipse">
            <a:avLst/>
          </a:prstGeom>
          <a:solidFill>
            <a:srgbClr val="6063EE">
              <a:lumMod val="70000"/>
              <a:lumOff val="3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8229600" cy="1828800"/>
          </a:xfrm>
          <a:prstGeom prst="rect">
            <a:avLst/>
          </a:prstGeom>
          <a:noFill/>
        </p:spPr>
        <p:txBody>
          <a:bodyPr wrap="none">
            <a:spAutoFit/>
          </a:bodyPr>
          <a:lstStyle/>
          <a:p>
            <a:pPr algn="l">
              <a:spcAft>
                <a:spcPts val="800"/>
              </a:spcAft>
            </a:pPr>
            <a:r>
              <a:rPr sz="4400" b="1">
                <a:solidFill>
                  <a:srgbClr val="FFFFFF"/>
                </a:solidFill>
                <a:latin typeface="Calibri"/>
              </a:rPr>
              <a:t>STRATEGIC RESOLUTION</a:t>
            </a:r>
          </a:p>
          <a:p>
            <a:pPr algn="l">
              <a:spcAft>
                <a:spcPts val="800"/>
              </a:spcAft>
            </a:pPr>
            <a:r>
              <a:rPr sz="3600" b="1">
                <a:solidFill>
                  <a:srgbClr val="FFFFFF"/>
                </a:solidFill>
                <a:latin typeface="Calibri"/>
              </a:rPr>
              <a:t>&amp; BLUEPRINT REPORT</a:t>
            </a:r>
          </a:p>
        </p:txBody>
      </p:sp>
      <p:sp>
        <p:nvSpPr>
          <p:cNvPr id="6" name="TextBox 5"/>
          <p:cNvSpPr txBox="1"/>
          <p:nvPr/>
        </p:nvSpPr>
        <p:spPr>
          <a:xfrm>
            <a:off x="914400" y="4572000"/>
            <a:ext cx="7315200" cy="914400"/>
          </a:xfrm>
          <a:prstGeom prst="rect">
            <a:avLst/>
          </a:prstGeom>
          <a:noFill/>
        </p:spPr>
        <p:txBody>
          <a:bodyPr wrap="none">
            <a:spAutoFit/>
          </a:bodyPr>
          <a:lstStyle/>
          <a:p>
            <a:pPr algn="l">
              <a:spcAft>
                <a:spcPts val="800"/>
              </a:spcAft>
            </a:pPr>
            <a:r>
              <a:rPr sz="1600" b="0">
                <a:solidFill>
                  <a:srgbClr val="F8FAFC"/>
                </a:solidFill>
                <a:latin typeface="Calibri"/>
              </a:rPr>
              <a:t>Generated by Argunex AI Multi-Agent Committee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02</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1. Analisis Situasi Domain</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Dokumen Laporan_Keuangan_Mitigasi_Siber.xlsx yang diunggah oleh user menunjukkan bahwa kebocoran saldo fiktif sebesar 500.000.000 Rp merupakan salah satu faktor yang menyebabkan kerugian akibat insiden sebesar 500.000.000 Rp. Anggaran mitigasi tersedia sebesar 150.000.000 Rp juga menjadi salah satu faktor yang mempengaruhi total eksposur. Dengan menggunakan Simulation Engine, dapat disimulasikan dampak finansial dari proyeksi penurunan transaksi harian terhadap batasan anggaran yang tersedia.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03</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2. Hasil Simulasi &amp; Skenario Terpilih</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Hasil simulasi menunjukkan bahwa jika penurunan transaksi harian mencapai 30%, maka total eksposur akan meningkat menjadi 650.000.000 Rp. Berikut adalah hasil simulasi:</a:t>
            </a:r>
          </a:p>
          <a:p>
            <a:pPr algn="l">
              <a:spcBef>
                <a:spcPts val="1200"/>
              </a:spcBef>
              <a:spcAft>
                <a:spcPts val="1200"/>
              </a:spcAft>
            </a:pPr>
            <a:r>
              <a:rPr sz="1500" b="0">
                <a:solidFill>
                  <a:srgbClr val="334155"/>
                </a:solidFill>
                <a:latin typeface="Calibri"/>
              </a:rPr>
              <a:t>▸  Total eksposur = kerugian akibat insiden + biaya mitigasi = 650.000.000 Rp</a:t>
            </a:r>
          </a:p>
          <a:p>
            <a:pPr algn="l">
              <a:spcBef>
                <a:spcPts val="1200"/>
              </a:spcBef>
              <a:spcAft>
                <a:spcPts val="1200"/>
              </a:spcAft>
            </a:pPr>
            <a:r>
              <a:rPr sz="1500" b="0">
                <a:solidFill>
                  <a:srgbClr val="334155"/>
                </a:solidFill>
                <a:latin typeface="Calibri"/>
              </a:rPr>
              <a:t>▸  Biaya mitigasi = biaya implementasi biometrik wajah + biaya PIN berlapis + biaya audit keamanan + biaya monitoring &amp; incident response + biaya cadangan darurat = 150.000.000 Rp</a:t>
            </a:r>
          </a:p>
          <a:p>
            <a:pPr algn="l">
              <a:spcBef>
                <a:spcPts val="1200"/>
              </a:spcBef>
              <a:spcAft>
                <a:spcPts val="1200"/>
              </a:spcAft>
            </a:pPr>
            <a:r>
              <a:rPr sz="1500" b="0">
                <a:solidFill>
                  <a:srgbClr val="334155"/>
                </a:solidFill>
                <a:latin typeface="Calibri"/>
              </a:rPr>
              <a:t>▸  Penurunan transaksi harian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04</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3. Action Plan &amp; SOP Implementasi (1)</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Untuk mengurangi total eksposur dan biaya mitigasi, berikut adalah langkah-langkah yang dapat diambil:</a:t>
            </a:r>
          </a:p>
          <a:p>
            <a:pPr algn="l">
              <a:spcBef>
                <a:spcPts val="1200"/>
              </a:spcBef>
              <a:spcAft>
                <a:spcPts val="1200"/>
              </a:spcAft>
            </a:pPr>
            <a:r>
              <a:rPr sz="1500" b="0">
                <a:solidFill>
                  <a:srgbClr val="334155"/>
                </a:solidFill>
                <a:latin typeface="Calibri"/>
              </a:rPr>
              <a:t>▸  Implementasi biometrik wajah dengan biaya 80.000.000 Rp.</a:t>
            </a:r>
          </a:p>
          <a:p>
            <a:pPr algn="l">
              <a:spcBef>
                <a:spcPts val="1200"/>
              </a:spcBef>
              <a:spcAft>
                <a:spcPts val="1200"/>
              </a:spcAft>
            </a:pPr>
            <a:r>
              <a:rPr sz="1500" b="0">
                <a:solidFill>
                  <a:srgbClr val="334155"/>
                </a:solidFill>
                <a:latin typeface="Calibri"/>
              </a:rPr>
              <a:t>▸  Implementasi PIN berlapis dengan biaya 30.000.000 Rp.</a:t>
            </a:r>
          </a:p>
          <a:p>
            <a:pPr algn="l">
              <a:spcBef>
                <a:spcPts val="1200"/>
              </a:spcBef>
              <a:spcAft>
                <a:spcPts val="1200"/>
              </a:spcAft>
            </a:pPr>
            <a:r>
              <a:rPr sz="1500" b="0">
                <a:solidFill>
                  <a:srgbClr val="334155"/>
                </a:solidFill>
                <a:latin typeface="Calibri"/>
              </a:rPr>
              <a:t>▸  Audit keamanan dengan biaya 20.000.000 Rp.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05</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3. Action Plan &amp; SOP Implementasi (2)</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Monitoring dan incident response dengan biaya 15.000.000 Rp.</a:t>
            </a:r>
          </a:p>
          <a:p>
            <a:pPr algn="l">
              <a:spcBef>
                <a:spcPts val="1200"/>
              </a:spcBef>
              <a:spcAft>
                <a:spcPts val="1200"/>
              </a:spcAft>
            </a:pPr>
            <a:r>
              <a:rPr sz="1500" b="0">
                <a:solidFill>
                  <a:srgbClr val="334155"/>
                </a:solidFill>
                <a:latin typeface="Calibri"/>
              </a:rPr>
              <a:t>▸  Cadangan darurat dengan biaya 5.000.000 Rp.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06</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4. Rekomendasi Strategis (1)</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Berikut adalah rekomendasi strategis berdasarkan hasil simulasi dan analisis:</a:t>
            </a:r>
          </a:p>
          <a:p>
            <a:pPr algn="l">
              <a:spcBef>
                <a:spcPts val="1200"/>
              </a:spcBef>
              <a:spcAft>
                <a:spcPts val="1200"/>
              </a:spcAft>
            </a:pPr>
            <a:r>
              <a:rPr sz="1500" b="0">
                <a:solidFill>
                  <a:srgbClr val="334155"/>
                </a:solidFill>
                <a:latin typeface="Calibri"/>
              </a:rPr>
              <a:t>▸  Implementasi biometrik wajah dan PIN berlapis untuk meningkatkan keamanan dan mengurangi total eksposur.</a:t>
            </a:r>
          </a:p>
          <a:p>
            <a:pPr algn="l">
              <a:spcBef>
                <a:spcPts val="1200"/>
              </a:spcBef>
              <a:spcAft>
                <a:spcPts val="1200"/>
              </a:spcAft>
            </a:pPr>
            <a:r>
              <a:rPr sz="1500" b="0">
                <a:solidFill>
                  <a:srgbClr val="334155"/>
                </a:solidFill>
                <a:latin typeface="Calibri"/>
              </a:rPr>
              <a:t>▸  Audit keamanan secara berkala untuk memastikan bahwa sistem keamanan masih efektif.</a:t>
            </a:r>
          </a:p>
          <a:p>
            <a:pPr algn="l">
              <a:spcBef>
                <a:spcPts val="1200"/>
              </a:spcBef>
              <a:spcAft>
                <a:spcPts val="1200"/>
              </a:spcAft>
            </a:pPr>
            <a:r>
              <a:rPr sz="1500" b="0">
                <a:solidFill>
                  <a:srgbClr val="334155"/>
                </a:solidFill>
                <a:latin typeface="Calibri"/>
              </a:rPr>
              <a:t>▸  Monitoring dan incident response secara berkala untuk memastikan bahwa sistem keamanan masih efektif.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464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05840"/>
            <a:ext cx="12191695"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789920" y="320040"/>
            <a:ext cx="1097280" cy="457200"/>
          </a:xfrm>
          <a:prstGeom prst="rect">
            <a:avLst/>
          </a:prstGeom>
          <a:noFill/>
        </p:spPr>
        <p:txBody>
          <a:bodyPr wrap="none">
            <a:spAutoFit/>
          </a:bodyPr>
          <a:lstStyle/>
          <a:p>
            <a:pPr algn="l">
              <a:spcAft>
                <a:spcPts val="800"/>
              </a:spcAft>
            </a:pPr>
            <a:r>
              <a:rPr sz="2000" b="1">
                <a:solidFill>
                  <a:srgbClr val="FFFFFF"/>
                </a:solidFill>
                <a:latin typeface="Calibri"/>
              </a:rPr>
              <a:t>07</a:t>
            </a:r>
          </a:p>
        </p:txBody>
      </p:sp>
      <p:sp>
        <p:nvSpPr>
          <p:cNvPr id="6" name="TextBox 5"/>
          <p:cNvSpPr txBox="1"/>
          <p:nvPr/>
        </p:nvSpPr>
        <p:spPr>
          <a:xfrm>
            <a:off x="731520" y="228600"/>
            <a:ext cx="9144000" cy="640080"/>
          </a:xfrm>
          <a:prstGeom prst="rect">
            <a:avLst/>
          </a:prstGeom>
          <a:noFill/>
        </p:spPr>
        <p:txBody>
          <a:bodyPr wrap="none">
            <a:spAutoFit/>
          </a:bodyPr>
          <a:lstStyle/>
          <a:p>
            <a:pPr algn="l">
              <a:spcAft>
                <a:spcPts val="800"/>
              </a:spcAft>
            </a:pPr>
            <a:r>
              <a:rPr sz="2400" b="1">
                <a:solidFill>
                  <a:srgbClr val="FFFFFF"/>
                </a:solidFill>
                <a:latin typeface="Calibri"/>
              </a:rPr>
              <a:t>4. Rekomendasi Strategis (2)</a:t>
            </a:r>
          </a:p>
        </p:txBody>
      </p:sp>
      <p:sp>
        <p:nvSpPr>
          <p:cNvPr id="7" name="Rounded Rectangle 6"/>
          <p:cNvSpPr/>
          <p:nvPr/>
        </p:nvSpPr>
        <p:spPr>
          <a:xfrm>
            <a:off x="548640" y="1371600"/>
            <a:ext cx="11064240" cy="5120640"/>
          </a:xfrm>
          <a:prstGeom prst="roundRect">
            <a:avLst/>
          </a:prstGeom>
          <a:solidFill>
            <a:srgbClr val="F8FAFC">
              <a:lumMod val="95000"/>
              <a:lumOff val="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4572000"/>
          </a:xfrm>
          <a:prstGeom prst="rect">
            <a:avLst/>
          </a:prstGeom>
          <a:noFill/>
        </p:spPr>
        <p:txBody>
          <a:bodyPr wrap="square">
            <a:spAutoFit/>
          </a:bodyPr>
          <a:lstStyle/>
          <a:p>
            <a:pPr algn="l">
              <a:spcBef>
                <a:spcPts val="1200"/>
              </a:spcBef>
              <a:spcAft>
                <a:spcPts val="1200"/>
              </a:spcAft>
            </a:pPr>
            <a:r>
              <a:rPr sz="1500" b="0">
                <a:solidFill>
                  <a:srgbClr val="334155"/>
                </a:solidFill>
                <a:latin typeface="Calibri"/>
              </a:rPr>
              <a:t>▸  Siapkan cadangan darurat untuk mengurangi dampak kerugian akibat insiden.</a:t>
            </a:r>
          </a:p>
          <a:p>
            <a:pPr algn="l">
              <a:spcBef>
                <a:spcPts val="1200"/>
              </a:spcBef>
              <a:spcAft>
                <a:spcPts val="1200"/>
              </a:spcAft>
            </a:pPr>
            <a:r>
              <a:rPr sz="1500" b="0">
                <a:solidFill>
                  <a:srgbClr val="334155"/>
                </a:solidFill>
                <a:latin typeface="Calibri"/>
              </a:rPr>
              <a:t>▸  Dengan mengikuti rekomendasi strategis di atas, diharapkan dapat mengurangi total eksposur dan biaya mitigasi, serta meningkatkan keamanan sistem keamanan.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 y="-914400"/>
            <a:ext cx="3657600" cy="3657600"/>
          </a:xfrm>
          <a:prstGeom prst="ellipse">
            <a:avLst/>
          </a:prstGeom>
          <a:solidFill>
            <a:srgbClr val="4648D4">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560320"/>
            <a:ext cx="10058400" cy="1371600"/>
          </a:xfrm>
          <a:prstGeom prst="rect">
            <a:avLst/>
          </a:prstGeom>
          <a:noFill/>
        </p:spPr>
        <p:txBody>
          <a:bodyPr wrap="none">
            <a:spAutoFit/>
          </a:bodyPr>
          <a:lstStyle/>
          <a:p>
            <a:pPr algn="l">
              <a:spcAft>
                <a:spcPts val="800"/>
              </a:spcAft>
            </a:pPr>
            <a:r>
              <a:rPr sz="5200" b="1">
                <a:solidFill>
                  <a:srgbClr val="FFFFFF"/>
                </a:solidFill>
                <a:latin typeface="Calibri"/>
              </a:rPr>
              <a:t>Thank You</a:t>
            </a:r>
          </a:p>
        </p:txBody>
      </p:sp>
      <p:sp>
        <p:nvSpPr>
          <p:cNvPr id="6" name="TextBox 5"/>
          <p:cNvSpPr txBox="1"/>
          <p:nvPr/>
        </p:nvSpPr>
        <p:spPr>
          <a:xfrm>
            <a:off x="914400" y="3931920"/>
            <a:ext cx="10058400" cy="914400"/>
          </a:xfrm>
          <a:prstGeom prst="rect">
            <a:avLst/>
          </a:prstGeom>
          <a:noFill/>
        </p:spPr>
        <p:txBody>
          <a:bodyPr wrap="none">
            <a:spAutoFit/>
          </a:bodyPr>
          <a:lstStyle/>
          <a:p>
            <a:pPr algn="l">
              <a:spcAft>
                <a:spcPts val="800"/>
              </a:spcAft>
            </a:pPr>
            <a:r>
              <a:rPr sz="2000" b="0">
                <a:solidFill>
                  <a:srgbClr val="F8FAFC"/>
                </a:solidFill>
                <a:latin typeface="Calibri"/>
              </a:rPr>
              <a:t>Questions &amp; Discussion</a:t>
            </a:r>
          </a:p>
        </p:txBody>
      </p:sp>
      <p:sp>
        <p:nvSpPr>
          <p:cNvPr id="7" name="Rectangle 6"/>
          <p:cNvSpPr/>
          <p:nvPr/>
        </p:nvSpPr>
        <p:spPr>
          <a:xfrm>
            <a:off x="3657600" y="4846320"/>
            <a:ext cx="4876495" cy="274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120640"/>
            <a:ext cx="10058400" cy="731520"/>
          </a:xfrm>
          <a:prstGeom prst="rect">
            <a:avLst/>
          </a:prstGeom>
          <a:noFill/>
        </p:spPr>
        <p:txBody>
          <a:bodyPr wrap="none">
            <a:spAutoFit/>
          </a:bodyPr>
          <a:lstStyle/>
          <a:p>
            <a:pPr algn="l">
              <a:spcAft>
                <a:spcPts val="800"/>
              </a:spcAft>
            </a:pPr>
            <a:r>
              <a:rPr sz="1200" b="0">
                <a:solidFill>
                  <a:srgbClr val="F8FAFC"/>
                </a:solidFill>
                <a:latin typeface="Calibri"/>
              </a:rPr>
              <a:t>Argunex AI | Strategic Intelligence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